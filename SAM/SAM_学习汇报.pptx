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-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36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E7E5A-5177-2F30-3F56-73CA588CA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0384CD-C9E1-59F8-29AB-44AB501B7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B90F44-B44F-AEED-E273-F1803FDC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8258-1609-4321-A05E-51DEA89B92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E9A7F5-E926-7F8C-DCE5-16C2A178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FF55FB-4ECC-D9C4-ACC7-90168071E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807D9-8DA1-4777-8247-68CE9FB22C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163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BAAB36-06C0-D9B3-3DF4-0D175FB1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AA71D0-592D-E5E2-0D34-3361B999D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306DD-A007-5454-66DA-30349B9C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8258-1609-4321-A05E-51DEA89B92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388793-6569-EA4D-D21B-39FB64FE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C6103A-5D93-AD72-E616-E461A049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807D9-8DA1-4777-8247-68CE9FB22C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312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A6B93-0595-6EA7-A60B-7B0EAC7A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A47AF5-588B-3EF1-80F4-79B08FD40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ED6515-EC52-7CB7-03C0-B862D760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8258-1609-4321-A05E-51DEA89B92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88F84-BD34-0C95-0E64-995703F5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83E6B1-3FFF-2CE7-DDF1-98633080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807D9-8DA1-4777-8247-68CE9FB22C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5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55FCB-8900-C975-FED1-3AC9D022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3C70DA-42DC-C667-21E6-7E0DC39526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18DE4A-6D90-2258-174F-E0E7260D4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6E6615-64F1-668E-1E2B-1C8D2BCF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8258-1609-4321-A05E-51DEA89B92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5B0C27-0FEC-4B0D-5424-E176BE0B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E58DB1-9350-4C4D-7D48-8EF587B06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807D9-8DA1-4777-8247-68CE9FB22C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34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74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0E6F9-A720-3D5F-2FFC-3EC0B532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93B66A-A05D-DA30-5926-5C8DD3D7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B8258-1609-4321-A05E-51DEA89B92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AE9647-DA8F-F080-D677-FD5B66AF9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3FA359-C3F4-BF7F-0192-F76E05EA9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807D9-8DA1-4777-8247-68CE9FB22C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01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130679-0688-F971-D6AE-CAD3A9C2A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6C3603-21F6-008A-A646-FF7487822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CDA51-6D53-CB69-B1C1-1C921ACAC0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B8258-1609-4321-A05E-51DEA89B928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7C417-44EF-F923-1EC9-B151C9D2F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A5399-B759-78CD-83E7-AC14BC472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807D9-8DA1-4777-8247-68CE9FB22C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72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274320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097280"/>
            <a:ext cx="2377440" cy="237744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READING </a:t>
            </a:r>
            <a:r>
              <a:rPr lang="en-US" sz="1400" b="1" kern="0" spc="300">
                <a:solidFill>
                  <a:srgbClr val="8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zh-CN" altLang="en-US" sz="1400" b="1" kern="0" spc="300">
                <a:solidFill>
                  <a:srgbClr val="8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论文</a:t>
            </a:r>
            <a:r>
              <a:rPr lang="en-US" sz="1400" b="1" kern="0" spc="300">
                <a:solidFill>
                  <a:srgbClr val="8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学习汇报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Anything (SAM)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可提示分割的基础模型 —论文精读与个人理解分享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汇报人：__</a:t>
            </a:r>
            <a:r>
              <a:rPr lang="zh-CN" altLang="en-US" sz="1200" u="sng">
                <a:solidFill>
                  <a:srgbClr val="8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杨衡</a:t>
            </a:r>
            <a:r>
              <a:rPr lang="en-US" sz="1200" u="sng">
                <a:solidFill>
                  <a:srgbClr val="8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　　</a:t>
            </a:r>
            <a:endParaRPr lang="en-US" sz="1200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汇报大纲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9224" y="1557255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9224" y="15636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70432" y="1640257"/>
            <a:ext cx="340156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CN" altLang="en-US" sz="150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</a:t>
            </a:r>
            <a:r>
              <a:rPr lang="en-US" sz="150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090355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" y="20890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2163210"/>
            <a:ext cx="340156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CN" altLang="en-US" sz="150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" y="26188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26221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98621"/>
            <a:ext cx="340156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CN" altLang="en-US" sz="1500">
                <a:solidFill>
                  <a:srgbClr val="F0F6F9"/>
                </a:solidFill>
                <a:latin typeface="Calibri" pitchFamily="34" charset="0"/>
                <a:cs typeface="Calibri" pitchFamily="34" charset="-120"/>
              </a:rPr>
              <a:t>实验</a:t>
            </a:r>
            <a:endParaRPr lang="en-US" sz="1500" dirty="0">
              <a:solidFill>
                <a:srgbClr val="F0F6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9224" y="3147413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31506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3224021"/>
            <a:ext cx="340156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zh-CN" altLang="en-US" sz="1500">
                <a:solidFill>
                  <a:srgbClr val="F0F6F9"/>
                </a:solidFill>
                <a:latin typeface="Calibri" pitchFamily="34" charset="0"/>
                <a:cs typeface="Calibri" pitchFamily="34" charset="-120"/>
              </a:rPr>
              <a:t>不足</a:t>
            </a:r>
            <a:endParaRPr lang="en-US" sz="1500" dirty="0">
              <a:solidFill>
                <a:srgbClr val="F0F6F9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672813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6728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749421"/>
            <a:ext cx="340156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CN" altLang="en-US" sz="1500">
                <a:solidFill>
                  <a:srgbClr val="F0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下游任务变体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198213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9821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" y="4274821"/>
            <a:ext cx="3401568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zh-CN" altLang="en-US" sz="1500">
                <a:solidFill>
                  <a:srgbClr val="F0F6F9"/>
                </a:solidFill>
                <a:latin typeface="Calibri" pitchFamily="34" charset="0"/>
                <a:cs typeface="Calibri" pitchFamily="34" charset="-120"/>
              </a:rPr>
              <a:t>总结</a:t>
            </a:r>
            <a:endParaRPr lang="en-US" sz="1500" dirty="0">
              <a:solidFill>
                <a:srgbClr val="F0F6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</a:t>
            </a: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研究目标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 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的目标：构建</a:t>
            </a:r>
            <a:r>
              <a:rPr lang="en-US" altLang="zh-CN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图像分割</a:t>
            </a: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领域的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基础</a:t>
            </a: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89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目标：Promptable Model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17190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希望像 NLP 中的可提示模型一样，通过在大规模数据集上预训练，得到一个“可提示”（promptable）的分割模型，能力可直接用于下游任务微调。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41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支柱一：Task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27706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定义“什么任务适合用零样本（zero-shot）方式完成”，是设计提示机制的出发点。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4930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支柱二 &amp; 三：Model + Data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38221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决定“用什么模型结构”去实现可提示分割；Data 提供有史以来规模最大的图像分割数据集，两者共同支撑模型能力。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</a:t>
            </a: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：</a:t>
            </a: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可提示的分割模型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89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灵感来源：NLP 的启发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17190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 NLP 领域提示（prompt）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机制的启发，</a:t>
            </a:r>
          </a:p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“提示”这一交互方式引入图像分割任务。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41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的设计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2770632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支持点、框、掩码</a:t>
            </a:r>
            <a:r>
              <a:rPr lang="en-US" altLang="zh-CN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等多种提示形式，</a:t>
            </a:r>
          </a:p>
          <a:p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用户可用任意一种或组合方式指定分割目标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4930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应对模糊提示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3822192"/>
            <a:ext cx="30952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对于存在歧义的提示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比如一个点可能指向整体也可能指向局部，模型需要输出至少一个合理的分割掩码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25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11A0CD7-9073-6FA1-58A1-A0D4600E2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3631" y="1261015"/>
            <a:ext cx="2558883" cy="22274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alt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Model：三大组件总览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97826"/>
            <a:ext cx="8229600" cy="2113507"/>
          </a:xfrm>
          <a:prstGeom prst="roundRect">
            <a:avLst>
              <a:gd name="adj" fmla="val 3461"/>
            </a:avLst>
          </a:prstGeom>
          <a:solidFill>
            <a:srgbClr val="F0F6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sam_ppt/assets/s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26426"/>
            <a:ext cx="7772400" cy="16563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95997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模型由三个主要组件构成：image encoder、prompt encoder、mask decoder，三者协同完成“图像 + 提示 → 掩码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”的转换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alt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细节：两个 Encoder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MAE 预训练的 ViT（Vision Transformer）模型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作用：将输入图像转化为模型可操作的 embedding（嵌入）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对每张图像只需运行一次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是整个 </a:t>
            </a:r>
            <a:r>
              <a:rPr lang="en-US" sz="12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中计算量最大的部分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Encoder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负责对各类提示输入进行编码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稀疏提示（点 / 框 / 文本）：通过位置编码方式表示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稠密提示（掩码）：通过卷积方式嵌入到同一空间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编码结果与图像 embedding 相加后送入 mask decoder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alt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 Decoder：内部结构图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24242" y="1143000"/>
            <a:ext cx="6095516" cy="2423160"/>
          </a:xfrm>
          <a:prstGeom prst="roundRect">
            <a:avLst>
              <a:gd name="adj" fmla="val 3019"/>
            </a:avLst>
          </a:prstGeom>
          <a:solidFill>
            <a:srgbClr val="F0F6F9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Image 0" descr="/home/claude/sam_ppt/assets/mask_decoder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842" y="1371600"/>
            <a:ext cx="5638316" cy="1965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核心结构：Transformer 解码器块重复 2 次（图中“x2”），随后经转置卷积上采样，与 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逐掩码做点积得到最终结果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Mask Decoder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alt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 Decoder 详解：基于 Transformer 的解码器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26464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第一轮：Token 与图像的双向交互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5568" y="2055114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自注意力（token self-attention）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50317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031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15568" y="2497455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→ 图像 embedding 的交叉注意力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94894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489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15568" y="2948940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 token（point-wise）通过 MLP 进行特征增强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3394710"/>
            <a:ext cx="256032" cy="25603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3947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15568" y="3400425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 embedding → Token 的交叉注意力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第二轮：上采样与掩码生成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0" y="205740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13248" y="2011680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上采样：通过两个转置卷积层，将图像 embedding 上采样 4 倍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250317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5031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13248" y="2457450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注意力：Token 与图像 embedding 再做一次自注意力计算并更新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0" y="29489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9489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2903220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MLP：将更新后的 embedding 传入小型 3 层 MLP，输出匹配上采样维度的向量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39471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39471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13248" y="3400425"/>
            <a:ext cx="2999232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预测：通过空间逐点乘法，最终生成分割掩码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第一轮中第 3、4 步的计算结果会继续送入第二轮，两轮衔接构成完整的解码流程，最终输出分割预测结果与损失数值。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alt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输出策略与 Loss 设计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多掩码输出策略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默认输出 3 个候选掩码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三个掩码的关系是从整体到局部（如：整体物体 → 部件 → 子部件）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一般来说，输入的 prompt 越多，输出结果越准确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F0F6F9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91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设计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 Mask Loss 和 IoU Loss 两部分组成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Loss 衡量预测掩码与真实掩码的差异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Loss 用于监督模型对自身输出质量的预测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两者按一定比例缩放后相加，得到最终训练损失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</a:t>
            </a:r>
            <a:endParaRPr lang="en-US" alt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：从人工</a:t>
            </a: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辅助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到全自动</a:t>
            </a: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7095744" cy="22860"/>
          </a:xfrm>
          <a:prstGeom prst="line">
            <a:avLst/>
          </a:prstGeom>
          <a:noFill/>
          <a:ln w="25400">
            <a:solidFill>
              <a:srgbClr val="8F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329184" cy="32918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-257556" y="2208276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人工辅助阶段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2651760"/>
            <a:ext cx="2362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由人工手动标注图像中的掩码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，为后续</a:t>
            </a:r>
            <a:r>
              <a:rPr lang="zh-CN" alt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数据引擎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自动化打</a:t>
            </a:r>
            <a:r>
              <a:rPr lang="zh-CN" alt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51376" y="1801368"/>
            <a:ext cx="329184" cy="32918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51376" y="18082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62300" y="226314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半自动化阶段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76016" y="2651760"/>
            <a:ext cx="2362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模型先标注出明显的 mask，再由人工补充模型遗漏的部分，逐步提升模型准确性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81544" y="1815085"/>
            <a:ext cx="329184" cy="32918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81544" y="182194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09232" y="228600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全自动化阶段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95516" y="2642616"/>
            <a:ext cx="23622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模型自动预测 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mask，</a:t>
            </a:r>
            <a:r>
              <a:rPr lang="zh-CN" alt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</a:t>
            </a: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筛选出合理的高质量掩码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351277"/>
            <a:ext cx="7836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最终构建的数据集</a:t>
            </a:r>
            <a:r>
              <a:rPr lang="zh-CN" altLang="zh-CN" sz="140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SA-1B</a:t>
            </a:r>
            <a:r>
              <a:rPr lang="zh-CN" altLang="en-US" sz="1400">
                <a:solidFill>
                  <a:srgbClr val="6474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包含</a:t>
            </a:r>
            <a:r>
              <a:rPr lang="en-US" altLang="zh-CN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11M</a:t>
            </a:r>
            <a:r>
              <a:rPr lang="zh-CN" alt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张图像和</a:t>
            </a:r>
            <a:r>
              <a:rPr lang="en-US" altLang="zh-CN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</a:t>
            </a:r>
            <a:r>
              <a:rPr lang="zh-CN" alt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掩码</a:t>
            </a:r>
            <a:r>
              <a:rPr lang="en-US" altLang="zh-CN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zh-CN" alt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掩码</a:t>
            </a:r>
            <a:r>
              <a:rPr lang="en-US" altLang="zh-CN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r>
              <a:rPr lang="zh-CN" alt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由数据引擎自动生成。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不仅体量最大，</a:t>
            </a:r>
            <a:r>
              <a:rPr lang="zh-CN" alt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而且图像和</a:t>
            </a:r>
            <a:r>
              <a:rPr lang="en-US" altLang="zh-CN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r>
              <a:rPr lang="zh-CN" alt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的质量非常高，，</a:t>
            </a: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RAI（公平性分析）指标上也比传统数据集表现更优。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实验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实验表现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63658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8213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17463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零样本实验</a:t>
            </a:r>
            <a:r>
              <a:rPr lang="zh-CN" alt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效果优越</a:t>
            </a:r>
            <a:endParaRPr lang="en-US" sz="16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00200" y="1595235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模型经过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多种类型的零样本实验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，包括单点评估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边缘检测，候选区域识别等。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都展现出了更加优秀的性能，验证了预训练带来的泛化能力。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41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组合提示提升输出精度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27706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当一种提示难以输出精准掩码时，增加另一种模态的提示可以改良输出的准确性。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822192"/>
            <a:ext cx="33238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更改图像编码器发现</a:t>
            </a:r>
            <a:r>
              <a:rPr lang="zh-CN" altLang="zh-CN" sz="125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- H</a:t>
            </a:r>
            <a:r>
              <a:rPr lang="zh-CN" altLang="zh-CN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比ViT - B/L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提升显著</a:t>
            </a:r>
            <a:r>
              <a:rPr lang="zh-CN" altLang="zh-CN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，但ViT - L到ViT </a:t>
            </a:r>
            <a:r>
              <a:rPr lang="zh-CN" altLang="zh-CN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H增益边际递减，平衡性能与效率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。</a:t>
            </a:r>
            <a:endParaRPr lang="en-US" sz="12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D41B55F-2A1F-3F3F-50E7-07DE558973E9}"/>
              </a:ext>
            </a:extLst>
          </p:cNvPr>
          <p:cNvSpPr txBox="1"/>
          <p:nvPr/>
        </p:nvSpPr>
        <p:spPr>
          <a:xfrm>
            <a:off x="1547445" y="3431786"/>
            <a:ext cx="4075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消融实验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06C89C7-BEBC-D3C8-F031-4C640EBC34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520440"/>
            <a:ext cx="3116605" cy="156103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4D6AB77-29D4-7312-6E8D-8200EB0D33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1204222"/>
            <a:ext cx="2437350" cy="21627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局限性：</a:t>
            </a: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准确性和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实时性分析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89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r>
              <a:rPr lang="zh-CN" altLang="en-US" sz="1600" b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的少提示优势和作为基础模型的通用性</a:t>
            </a:r>
            <a:endParaRPr lang="en-US" sz="16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600200" y="17190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CN" altLang="zh-CN" sz="1250">
                <a:solidFill>
                  <a:srgbClr val="64748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有时会错过细微结构，会出现小的断开，并且在生成边界时不够清晰。同时如果提供的点比较多的话，专业的交互式分割方法会优于SAM。也就是说SAM的设计是为了用于广泛使用，在特定任务上不一定优于特定算法。</a:t>
            </a:r>
            <a:endParaRPr lang="en-US" sz="1250" dirty="0">
              <a:solidFill>
                <a:srgbClr val="64748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41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Encoder 阶段延迟明显</a:t>
            </a:r>
            <a:r>
              <a:rPr lang="zh-CN" altLang="en-US" sz="1600"/>
              <a:t>，</a:t>
            </a:r>
            <a:r>
              <a:rPr lang="en-US" sz="16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阶段接近实时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27706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CN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每张图片的编码时间约在 0.1s - 0.5s，延迟较为明显，主要原因是 ViT 架构本身的计算量较大。</a:t>
            </a:r>
            <a:endParaRPr lang="en-US" altLang="zh-CN" sz="1250"/>
          </a:p>
          <a:p>
            <a:pPr marL="0" indent="0">
              <a:buNone/>
            </a:pP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解码任务速度较快，mask decoder 阶段可以做到”亚实时”。这是因为 image embedding 是整个流程的主要计算量，一旦编码完成，后续的解码任务计算量相对较小，速度较快。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4930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优化方向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38221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在实际实现下游任务时，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可以考虑 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MobileSAM 等变体思路：用更小的编码器 backbone 替换原始 ViT，兼顾速度与精度。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下游任务变体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MobileSAM：轻量化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、实时</a:t>
            </a:r>
            <a:r>
              <a:rPr lang="zh-CN" alt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推理</a:t>
            </a:r>
            <a:r>
              <a:rPr lang="en-US" sz="2600" b="1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版本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89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1719072"/>
            <a:ext cx="27843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SAM 整体框架，用更小的编码器 backbone 替换原始 ViT，实现模型的轻量化与实时推理。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41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边缘设备部署可行性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2770632"/>
            <a:ext cx="2825496" cy="96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MobileSAM 将原始 ViT-H 编码器替换为轻量级 TinyViT，参数量从 632M 降至 5M，推理速度提升约 50 倍。在 CPU 上可实现实时分割，具备在 </a:t>
            </a:r>
            <a:r>
              <a:rPr lang="en-US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Nano等边缘设备上部署的可行性。</a:t>
            </a:r>
            <a:endParaRPr lang="en-US" sz="125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2927B80-3063-3815-0C9D-5C68BD5D69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185" y="1417320"/>
            <a:ext cx="4572000" cy="164766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F657452-4116-2CBE-33BC-3266D3988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732430"/>
            <a:ext cx="2940884" cy="80589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E260ECC-2A5C-1545-E8CE-5578032814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3732430"/>
            <a:ext cx="2860592" cy="788213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966EA275-E1E1-C237-BBE9-BAC593192000}"/>
              </a:ext>
            </a:extLst>
          </p:cNvPr>
          <p:cNvSpPr txBox="1"/>
          <p:nvPr/>
        </p:nvSpPr>
        <p:spPr>
          <a:xfrm>
            <a:off x="548640" y="4538767"/>
            <a:ext cx="289098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相比原始</a:t>
            </a:r>
            <a:r>
              <a:rPr lang="en-US" altLang="zh-CN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模型编解码耗时显著降低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1DED067-17A2-EE5C-3ADE-D27841DF9CD8}"/>
              </a:ext>
            </a:extLst>
          </p:cNvPr>
          <p:cNvSpPr txBox="1"/>
          <p:nvPr/>
        </p:nvSpPr>
        <p:spPr>
          <a:xfrm>
            <a:off x="4425696" y="4546240"/>
            <a:ext cx="2349489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相比</a:t>
            </a:r>
            <a:r>
              <a:rPr lang="en-US" altLang="zh-CN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Fast</a:t>
            </a:r>
            <a:r>
              <a:rPr lang="en-US" altLang="zh-CN" sz="12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r>
              <a:rPr lang="zh-CN" altLang="en-US" sz="125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模型推理速度更快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CN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下游任务变体</a:t>
            </a:r>
            <a:endParaRPr lang="en-US" alt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SAM2：面向视频的扩展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89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增加视频输入处理能力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17190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SAM 的基础上，增加了对视频输入的处理能力，将分割能力从单张图像扩展到视频序列。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41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流式记忆机制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27706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通过流式记忆机制，模型可以利用历史帧的信息，对视频中的目标进行持续跟踪并分割。</a:t>
            </a:r>
            <a:endParaRPr lang="en-US" sz="125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504EEF4-64A0-5A8B-DD50-65F466596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26978"/>
            <a:ext cx="6213348" cy="16129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</a:t>
            </a:r>
            <a:r>
              <a:rPr lang="zh-CN" alt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个人理解与思考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38988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系统化的方法论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171907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Model / Data 三位一体的设计思路，把“定义任务 - 设计模型 - 构建数据集”系统化，是这项工作最值得借鉴的地方。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44144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工程设计的取舍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277063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“重编码器 + 轻解码器”的架构选择，让实时交互式分割成为可能，是效果与体验之间取得平衡的典型范例。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57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49300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基础模型也需要持续迭代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382219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MobileSAM、SAM2 分别在轻量化和视频扩展方向做了针对性优化，说明基础模型发布只是起点，后续仍需针对场景不断演进。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377440"/>
            <a:ext cx="3657600" cy="3657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谢谢聆听 · Q &amp; A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Calibri"/>
        <a:ea typeface="Calibri"/>
        <a:cs typeface=""/>
      </a:majorFont>
      <a:minorFont>
        <a:latin typeface="Calibri"/>
        <a:ea typeface="Calibr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845</Words>
  <Application>Microsoft Office PowerPoint</Application>
  <PresentationFormat>全屏显示(16:9)</PresentationFormat>
  <Paragraphs>154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 Anything (SAM) 学习汇报</dc:title>
  <dc:subject>PptxGenJS Presentation</dc:subject>
  <dc:creator>学习汇报模板</dc:creator>
  <cp:lastModifiedBy>HENG YANG</cp:lastModifiedBy>
  <cp:revision>101</cp:revision>
  <dcterms:created xsi:type="dcterms:W3CDTF">2026-07-04T06:21:39Z</dcterms:created>
  <dcterms:modified xsi:type="dcterms:W3CDTF">2026-07-06T06:42:28Z</dcterms:modified>
</cp:coreProperties>
</file>